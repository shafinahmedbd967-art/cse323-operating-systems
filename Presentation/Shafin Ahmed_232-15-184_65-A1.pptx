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slide+xml" PartName="/ppt/slides/slide23.xml"/>
  <Override ContentType="application/vnd.openxmlformats-officedocument.presentationml.slide+xml" PartName="/ppt/slides/slide24.xml"/>
  <Override ContentType="application/vnd.openxmlformats-officedocument.presentationml.slide+xml" PartName="/ppt/slides/slide25.xml"/>
  <Override ContentType="application/vnd.openxmlformats-officedocument.presentationml.slide+xml" PartName="/ppt/slides/slide2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x="18288000" cy="10287000"/>
  <p:notesSz cx="6858000" cy="9144000"/>
  <p:embeddedFontLst>
    <p:embeddedFont>
      <p:font typeface="Alatsi" charset="1" panose="00000500000000000000"/>
      <p:regular r:id="rId32"/>
    </p:embeddedFont>
    <p:embeddedFont>
      <p:font typeface="Canva Sans" charset="1" panose="020B0503030501040103"/>
      <p:regular r:id="rId33"/>
    </p:embeddedFont>
    <p:embeddedFont>
      <p:font typeface="Abhaya Libre Bold" charset="1" panose="02000803000000000000"/>
      <p:regular r:id="rId34"/>
    </p:embeddedFont>
    <p:embeddedFont>
      <p:font typeface="Chewy" charset="1" panose="02000000000000000000"/>
      <p:regular r:id="rId35"/>
    </p:embeddedFont>
    <p:embeddedFont>
      <p:font typeface="Abhaya Libre Italics" charset="1" panose="02000503000000000000"/>
      <p:regular r:id="rId36"/>
    </p:embeddedFont>
    <p:embeddedFont>
      <p:font typeface="League Spartan" charset="1" panose="00000800000000000000"/>
      <p:regular r:id="rId37"/>
    </p:embeddedFont>
    <p:embeddedFont>
      <p:font typeface="Abhaya Libre" charset="1" panose="02000503000000000000"/>
      <p:regular r:id="rId38"/>
    </p:embeddedFont>
    <p:embeddedFont>
      <p:font typeface="Source Sans 3" charset="1" panose="020B0303030403020204"/>
      <p:regular r:id="rId3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slides/slide23.xml" Type="http://schemas.openxmlformats.org/officeDocument/2006/relationships/slide"/><Relationship Id="rId29" Target="slides/slide24.xml" Type="http://schemas.openxmlformats.org/officeDocument/2006/relationships/slide"/><Relationship Id="rId3" Target="viewProps.xml" Type="http://schemas.openxmlformats.org/officeDocument/2006/relationships/viewProps"/><Relationship Id="rId30" Target="slides/slide25.xml" Type="http://schemas.openxmlformats.org/officeDocument/2006/relationships/slide"/><Relationship Id="rId31" Target="slides/slide26.xml" Type="http://schemas.openxmlformats.org/officeDocument/2006/relationships/slide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34" Target="fonts/font34.fntdata" Type="http://schemas.openxmlformats.org/officeDocument/2006/relationships/font"/><Relationship Id="rId35" Target="fonts/font35.fntdata" Type="http://schemas.openxmlformats.org/officeDocument/2006/relationships/font"/><Relationship Id="rId36" Target="fonts/font36.fntdata" Type="http://schemas.openxmlformats.org/officeDocument/2006/relationships/font"/><Relationship Id="rId37" Target="fonts/font37.fntdata" Type="http://schemas.openxmlformats.org/officeDocument/2006/relationships/font"/><Relationship Id="rId38" Target="fonts/font38.fntdata" Type="http://schemas.openxmlformats.org/officeDocument/2006/relationships/font"/><Relationship Id="rId39" Target="fonts/font39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7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8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0.pn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1.pn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5.pn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8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svg" Type="http://schemas.openxmlformats.org/officeDocument/2006/relationships/image"/><Relationship Id="rId4" Target="../media/image19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2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0.png" Type="http://schemas.openxmlformats.org/officeDocument/2006/relationships/image"/><Relationship Id="rId3" Target="../media/image21.svg" Type="http://schemas.openxmlformats.org/officeDocument/2006/relationships/image"/></Relationships>
</file>

<file path=ppt/slides/_rels/slide2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8471" y="0"/>
            <a:ext cx="2119542" cy="10287000"/>
            <a:chOff x="0" y="0"/>
            <a:chExt cx="55823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6BD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0"/>
            <a:ext cx="2119542" cy="10287000"/>
            <a:chOff x="0" y="0"/>
            <a:chExt cx="5582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993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1071" y="0"/>
            <a:ext cx="2119542" cy="10287000"/>
            <a:chOff x="0" y="0"/>
            <a:chExt cx="55823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46F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646898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4712890" y="8725001"/>
            <a:ext cx="11591608" cy="5332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376"/>
              </a:lnSpc>
            </a:pPr>
            <a:r>
              <a:rPr lang="en-US" sz="3126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Daffodil International University | Spring 2026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1118095" y="925830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208013" y="3873903"/>
            <a:ext cx="13749274" cy="26439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136"/>
              </a:lnSpc>
            </a:pPr>
            <a:r>
              <a:rPr lang="en-US" sz="529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SECURE LINUX-BASED APACHE WEB SERVER DEPLOYMENT WITH SECURITY HARDENING AND MONITORING</a:t>
            </a:r>
          </a:p>
          <a:p>
            <a:pPr algn="ctr">
              <a:lnSpc>
                <a:spcPts val="5136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866775"/>
            <a:ext cx="1623060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65_A, GROUP-02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5696358" y="8781232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Daffodil International University | 2026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1390722" y="3102810"/>
            <a:ext cx="7362681" cy="4628769"/>
            <a:chOff x="0" y="0"/>
            <a:chExt cx="1939142" cy="12191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1939142" cy="1219100"/>
            </a:xfrm>
            <a:custGeom>
              <a:avLst/>
              <a:gdLst/>
              <a:ahLst/>
              <a:cxnLst/>
              <a:rect r="r" b="b" t="t" l="l"/>
              <a:pathLst>
                <a:path h="1219100" w="1939142">
                  <a:moveTo>
                    <a:pt x="53627" y="0"/>
                  </a:moveTo>
                  <a:lnTo>
                    <a:pt x="1885515" y="0"/>
                  </a:lnTo>
                  <a:cubicBezTo>
                    <a:pt x="1915133" y="0"/>
                    <a:pt x="1939142" y="24010"/>
                    <a:pt x="1939142" y="53627"/>
                  </a:cubicBezTo>
                  <a:lnTo>
                    <a:pt x="1939142" y="1165473"/>
                  </a:lnTo>
                  <a:cubicBezTo>
                    <a:pt x="1939142" y="1179696"/>
                    <a:pt x="1933492" y="1193336"/>
                    <a:pt x="1923435" y="1203393"/>
                  </a:cubicBezTo>
                  <a:cubicBezTo>
                    <a:pt x="1913378" y="1213450"/>
                    <a:pt x="1899738" y="1219100"/>
                    <a:pt x="1885515" y="1219100"/>
                  </a:cubicBezTo>
                  <a:lnTo>
                    <a:pt x="53627" y="1219100"/>
                  </a:lnTo>
                  <a:cubicBezTo>
                    <a:pt x="24010" y="1219100"/>
                    <a:pt x="0" y="1195090"/>
                    <a:pt x="0" y="1165473"/>
                  </a:cubicBezTo>
                  <a:lnTo>
                    <a:pt x="0" y="53627"/>
                  </a:lnTo>
                  <a:cubicBezTo>
                    <a:pt x="0" y="39404"/>
                    <a:pt x="5650" y="25764"/>
                    <a:pt x="15707" y="15707"/>
                  </a:cubicBezTo>
                  <a:cubicBezTo>
                    <a:pt x="25764" y="5650"/>
                    <a:pt x="39404" y="0"/>
                    <a:pt x="53627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38100"/>
              <a:ext cx="1939142" cy="12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998145" y="4624464"/>
            <a:ext cx="7026120" cy="38042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Husne Mubarak 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Lecturer 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Department of CSE</a:t>
            </a:r>
          </a:p>
          <a:p>
            <a:pPr algn="l">
              <a:lnSpc>
                <a:spcPts val="5039"/>
              </a:lnSpc>
            </a:pPr>
            <a:r>
              <a:rPr lang="en-US" sz="35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Daffodil International University</a:t>
            </a:r>
          </a:p>
          <a:p>
            <a:pPr algn="l">
              <a:lnSpc>
                <a:spcPts val="5039"/>
              </a:lnSpc>
            </a:pPr>
          </a:p>
          <a:p>
            <a:pPr algn="l">
              <a:lnSpc>
                <a:spcPts val="5039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3417488" y="6142174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9534597" y="3102810"/>
            <a:ext cx="7864105" cy="4628769"/>
            <a:chOff x="0" y="0"/>
            <a:chExt cx="2071205" cy="12191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2071205" cy="1219100"/>
            </a:xfrm>
            <a:custGeom>
              <a:avLst/>
              <a:gdLst/>
              <a:ahLst/>
              <a:cxnLst/>
              <a:rect r="r" b="b" t="t" l="l"/>
              <a:pathLst>
                <a:path h="1219100" w="2071205">
                  <a:moveTo>
                    <a:pt x="50208" y="0"/>
                  </a:moveTo>
                  <a:lnTo>
                    <a:pt x="2020997" y="0"/>
                  </a:lnTo>
                  <a:cubicBezTo>
                    <a:pt x="2034313" y="0"/>
                    <a:pt x="2047083" y="5290"/>
                    <a:pt x="2056499" y="14705"/>
                  </a:cubicBezTo>
                  <a:cubicBezTo>
                    <a:pt x="2065915" y="24121"/>
                    <a:pt x="2071205" y="36892"/>
                    <a:pt x="2071205" y="50208"/>
                  </a:cubicBezTo>
                  <a:lnTo>
                    <a:pt x="2071205" y="1168892"/>
                  </a:lnTo>
                  <a:cubicBezTo>
                    <a:pt x="2071205" y="1182208"/>
                    <a:pt x="2065915" y="1194979"/>
                    <a:pt x="2056499" y="1204394"/>
                  </a:cubicBezTo>
                  <a:cubicBezTo>
                    <a:pt x="2047083" y="1213810"/>
                    <a:pt x="2034313" y="1219100"/>
                    <a:pt x="2020997" y="1219100"/>
                  </a:cubicBezTo>
                  <a:lnTo>
                    <a:pt x="50208" y="1219100"/>
                  </a:lnTo>
                  <a:cubicBezTo>
                    <a:pt x="22479" y="1219100"/>
                    <a:pt x="0" y="1196621"/>
                    <a:pt x="0" y="1168892"/>
                  </a:cubicBezTo>
                  <a:lnTo>
                    <a:pt x="0" y="50208"/>
                  </a:lnTo>
                  <a:cubicBezTo>
                    <a:pt x="0" y="36892"/>
                    <a:pt x="5290" y="24121"/>
                    <a:pt x="14705" y="14705"/>
                  </a:cubicBezTo>
                  <a:cubicBezTo>
                    <a:pt x="24121" y="5290"/>
                    <a:pt x="36892" y="0"/>
                    <a:pt x="50208" y="0"/>
                  </a:cubicBezTo>
                  <a:close/>
                </a:path>
              </a:pathLst>
            </a:custGeom>
            <a:solidFill>
              <a:srgbClr val="FEFEFE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38100"/>
              <a:ext cx="2071205" cy="12572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2" id="12"/>
          <p:cNvGrpSpPr/>
          <p:nvPr/>
        </p:nvGrpSpPr>
        <p:grpSpPr>
          <a:xfrm rot="0">
            <a:off x="1739665" y="3615357"/>
            <a:ext cx="516960" cy="516960"/>
            <a:chOff x="0" y="0"/>
            <a:chExt cx="812800" cy="8128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4" id="14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15" id="15"/>
          <p:cNvGrpSpPr/>
          <p:nvPr/>
        </p:nvGrpSpPr>
        <p:grpSpPr>
          <a:xfrm rot="0">
            <a:off x="9944736" y="3615357"/>
            <a:ext cx="516960" cy="516960"/>
            <a:chOff x="0" y="0"/>
            <a:chExt cx="812800" cy="812800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/>
            </a:solidFill>
          </p:spPr>
        </p:sp>
        <p:sp>
          <p:nvSpPr>
            <p:cNvPr name="TextBox 17" id="1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AutoShape 18" id="18"/>
          <p:cNvSpPr/>
          <p:nvPr/>
        </p:nvSpPr>
        <p:spPr>
          <a:xfrm>
            <a:off x="-1072730" y="9051742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9" id="19"/>
          <p:cNvSpPr/>
          <p:nvPr/>
        </p:nvSpPr>
        <p:spPr>
          <a:xfrm>
            <a:off x="12306523" y="9042217"/>
            <a:ext cx="7105264" cy="19050"/>
          </a:xfrm>
          <a:prstGeom prst="line">
            <a:avLst/>
          </a:prstGeom>
          <a:ln cap="flat" w="114300">
            <a:solidFill>
              <a:srgbClr val="9FC3D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20" id="20"/>
          <p:cNvSpPr/>
          <p:nvPr/>
        </p:nvSpPr>
        <p:spPr>
          <a:xfrm flipH="false" flipV="false" rot="0">
            <a:off x="-2243137" y="-402279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1" id="21"/>
          <p:cNvSpPr txBox="true"/>
          <p:nvPr/>
        </p:nvSpPr>
        <p:spPr>
          <a:xfrm rot="0">
            <a:off x="2479902" y="3486487"/>
            <a:ext cx="3878232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46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Presented To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9944736" y="3816687"/>
            <a:ext cx="8108031" cy="44325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061"/>
              </a:lnSpc>
            </a:pPr>
          </a:p>
          <a:p>
            <a:pPr algn="l">
              <a:lnSpc>
                <a:spcPts val="5061"/>
              </a:lnSpc>
            </a:pPr>
            <a:r>
              <a:rPr lang="en-US" sz="361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Shafin Ahmed (232-15-184)</a:t>
            </a:r>
          </a:p>
          <a:p>
            <a:pPr algn="l">
              <a:lnSpc>
                <a:spcPts val="5061"/>
              </a:lnSpc>
            </a:pPr>
            <a:r>
              <a:rPr lang="en-US" sz="361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Sakib Ahmed (232-15-085)</a:t>
            </a:r>
          </a:p>
          <a:p>
            <a:pPr algn="l">
              <a:lnSpc>
                <a:spcPts val="5061"/>
              </a:lnSpc>
            </a:pPr>
            <a:r>
              <a:rPr lang="en-US" sz="361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Shisita Sarkar Setu (232-15-762)</a:t>
            </a:r>
          </a:p>
          <a:p>
            <a:pPr algn="l">
              <a:lnSpc>
                <a:spcPts val="5061"/>
              </a:lnSpc>
            </a:pPr>
            <a:r>
              <a:rPr lang="en-US" sz="361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Nayeem Siddique Bijoy (232-15-566)</a:t>
            </a:r>
          </a:p>
          <a:p>
            <a:pPr algn="l">
              <a:lnSpc>
                <a:spcPts val="5061"/>
              </a:lnSpc>
            </a:pPr>
            <a:r>
              <a:rPr lang="en-US" sz="3615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Habibur Rahman (232-15-288) </a:t>
            </a:r>
          </a:p>
          <a:p>
            <a:pPr algn="l">
              <a:lnSpc>
                <a:spcPts val="5061"/>
              </a:lnSpc>
            </a:pPr>
          </a:p>
        </p:txBody>
      </p:sp>
      <p:sp>
        <p:nvSpPr>
          <p:cNvPr name="TextBox 23" id="23"/>
          <p:cNvSpPr txBox="true"/>
          <p:nvPr/>
        </p:nvSpPr>
        <p:spPr>
          <a:xfrm rot="0">
            <a:off x="10639349" y="3486487"/>
            <a:ext cx="3878232" cy="7950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579"/>
              </a:lnSpc>
            </a:pPr>
            <a:r>
              <a:rPr lang="en-US" sz="46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Presented By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</a:t>
            </a:r>
          </a:p>
        </p:txBody>
      </p:sp>
    </p:spTree>
  </p:cSld>
  <p:clrMapOvr>
    <a:masterClrMapping/>
  </p:clrMapOvr>
  <p:transition spd="fast">
    <p:push dir="l"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3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582245" y="621654"/>
            <a:ext cx="16230600" cy="14509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899"/>
              </a:lnSpc>
            </a:pPr>
            <a:r>
              <a:rPr lang="en-US" sz="84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TOPICS</a:t>
            </a:r>
          </a:p>
        </p:txBody>
      </p:sp>
      <p:grpSp>
        <p:nvGrpSpPr>
          <p:cNvPr name="Group 3" id="3"/>
          <p:cNvGrpSpPr/>
          <p:nvPr/>
        </p:nvGrpSpPr>
        <p:grpSpPr>
          <a:xfrm rot="0">
            <a:off x="627362" y="0"/>
            <a:ext cx="937061" cy="10287000"/>
            <a:chOff x="0" y="0"/>
            <a:chExt cx="246798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246798" cy="2709333"/>
            </a:xfrm>
            <a:custGeom>
              <a:avLst/>
              <a:gdLst/>
              <a:ahLst/>
              <a:cxnLst/>
              <a:rect r="r" b="b" t="t" l="l"/>
              <a:pathLst>
                <a:path h="2709333" w="246798">
                  <a:moveTo>
                    <a:pt x="0" y="0"/>
                  </a:moveTo>
                  <a:lnTo>
                    <a:pt x="246798" y="0"/>
                  </a:lnTo>
                  <a:lnTo>
                    <a:pt x="246798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E4F2FD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246798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-5400000">
            <a:off x="-2373736" y="4911090"/>
            <a:ext cx="6882108" cy="4648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7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Daffodil International University | 2026</a:t>
            </a:r>
          </a:p>
        </p:txBody>
      </p:sp>
      <p:sp>
        <p:nvSpPr>
          <p:cNvPr name="AutoShape 7" id="7"/>
          <p:cNvSpPr/>
          <p:nvPr/>
        </p:nvSpPr>
        <p:spPr>
          <a:xfrm flipH="true" flipV="true">
            <a:off x="1085850" y="8268394"/>
            <a:ext cx="5403" cy="2997456"/>
          </a:xfrm>
          <a:prstGeom prst="line">
            <a:avLst/>
          </a:prstGeom>
          <a:ln cap="flat" w="114300">
            <a:solidFill>
              <a:srgbClr val="1993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8" id="8"/>
          <p:cNvSpPr/>
          <p:nvPr/>
        </p:nvSpPr>
        <p:spPr>
          <a:xfrm flipH="true" flipV="true">
            <a:off x="1085850" y="-924826"/>
            <a:ext cx="5403" cy="2997456"/>
          </a:xfrm>
          <a:prstGeom prst="line">
            <a:avLst/>
          </a:prstGeom>
          <a:ln cap="flat" w="114300">
            <a:solidFill>
              <a:srgbClr val="1993E9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11613363" y="-210192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0" y="0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/>
          <p:cNvSpPr txBox="true"/>
          <p:nvPr/>
        </p:nvSpPr>
        <p:spPr>
          <a:xfrm rot="0">
            <a:off x="2228237" y="2805430"/>
            <a:ext cx="13831526" cy="645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10360"/>
              </a:lnSpc>
              <a:buAutoNum type="arabicPeriod" startAt="1"/>
            </a:pPr>
            <a:r>
              <a:rPr lang="en-US" b="true" sz="56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Introduction &amp; Problem Context</a:t>
            </a:r>
          </a:p>
          <a:p>
            <a:pPr algn="l" marL="1209041" indent="-604520" lvl="1">
              <a:lnSpc>
                <a:spcPts val="10360"/>
              </a:lnSpc>
              <a:buAutoNum type="arabicPeriod" startAt="1"/>
            </a:pPr>
            <a:r>
              <a:rPr lang="en-US" b="true" sz="56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Objectives &amp; System Architecture</a:t>
            </a:r>
          </a:p>
          <a:p>
            <a:pPr algn="l" marL="1209041" indent="-604520" lvl="1">
              <a:lnSpc>
                <a:spcPts val="10360"/>
              </a:lnSpc>
              <a:buAutoNum type="arabicPeriod" startAt="1"/>
            </a:pPr>
            <a:r>
              <a:rPr lang="en-US" b="true" sz="56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Objectives &amp; System Architecture</a:t>
            </a:r>
          </a:p>
          <a:p>
            <a:pPr algn="l" marL="1209041" indent="-604520" lvl="1">
              <a:lnSpc>
                <a:spcPts val="10360"/>
              </a:lnSpc>
              <a:buAutoNum type="arabicPeriod" startAt="1"/>
            </a:pPr>
            <a:r>
              <a:rPr lang="en-US" b="true" sz="56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Implementation &amp; Demo</a:t>
            </a:r>
          </a:p>
          <a:p>
            <a:pPr algn="l" marL="1209041" indent="-604520" lvl="1">
              <a:lnSpc>
                <a:spcPts val="10360"/>
              </a:lnSpc>
              <a:buAutoNum type="arabicPeriod" startAt="1"/>
            </a:pPr>
            <a:r>
              <a:rPr lang="en-US" b="true" sz="5600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 Results, Impact &amp; Conclusion</a:t>
            </a:r>
          </a:p>
        </p:txBody>
      </p:sp>
    </p:spTree>
  </p:cSld>
  <p:clrMapOvr>
    <a:masterClrMapping/>
  </p:clrMapOvr>
  <p:transition spd="fast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8471" y="0"/>
            <a:ext cx="2119542" cy="10287000"/>
            <a:chOff x="0" y="0"/>
            <a:chExt cx="55823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6BD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0"/>
            <a:ext cx="2119542" cy="10287000"/>
            <a:chOff x="0" y="0"/>
            <a:chExt cx="5582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993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1071" y="0"/>
            <a:ext cx="2119542" cy="10287000"/>
            <a:chOff x="0" y="0"/>
            <a:chExt cx="55823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46F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208013" y="2379540"/>
            <a:ext cx="12112646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INTRODUCTION &amp; PROBLEM CONTEXT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67475" y="5560890"/>
            <a:ext cx="8744464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-NAYEEM SIDDIQUE BIJOY (232-15-566)</a:t>
            </a:r>
          </a:p>
        </p:txBody>
      </p:sp>
    </p:spTree>
  </p:cSld>
  <p:clrMapOvr>
    <a:masterClrMapping/>
  </p:clrMapOvr>
  <p:transition spd="fast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86481" y="3445934"/>
            <a:ext cx="5372819" cy="4493262"/>
          </a:xfrm>
          <a:custGeom>
            <a:avLst/>
            <a:gdLst/>
            <a:ahLst/>
            <a:cxnLst/>
            <a:rect r="r" b="b" t="t" l="l"/>
            <a:pathLst>
              <a:path h="4493262" w="5372819">
                <a:moveTo>
                  <a:pt x="0" y="0"/>
                </a:moveTo>
                <a:lnTo>
                  <a:pt x="5372819" y="0"/>
                </a:lnTo>
                <a:lnTo>
                  <a:pt x="5372819" y="4493262"/>
                </a:lnTo>
                <a:lnTo>
                  <a:pt x="0" y="4493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606" t="0" r="-34954" b="-1621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407051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07939" y="866775"/>
            <a:ext cx="14834810" cy="137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6"/>
              </a:lnSpc>
            </a:pPr>
            <a:r>
              <a:rPr lang="en-US" sz="7997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INTRODUCTION &amp; PROJECT OVERVIEW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3379259"/>
            <a:ext cx="9860092" cy="39310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4801" indent="-402401" lvl="1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Project: Secure Linux-Based Apache Web Server</a:t>
            </a:r>
          </a:p>
          <a:p>
            <a:pPr algn="l" marL="804801" indent="-402401" lvl="1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We</a:t>
            </a: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b server with security &amp; monitoring</a:t>
            </a:r>
          </a:p>
          <a:p>
            <a:pPr algn="l" marL="804801" indent="-402401" lvl="1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</a:t>
            </a: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otects data from cyber threats</a:t>
            </a:r>
          </a:p>
          <a:p>
            <a:pPr algn="l" marL="804801" indent="-402401" lvl="1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E</a:t>
            </a: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nsures reliable service</a:t>
            </a:r>
          </a:p>
          <a:p>
            <a:pPr algn="ctr">
              <a:lnSpc>
                <a:spcPts val="521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292528" y="9895840"/>
            <a:ext cx="10465632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Photos retrieved from Google Gemini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886481" y="3445934"/>
            <a:ext cx="5372819" cy="4493262"/>
          </a:xfrm>
          <a:custGeom>
            <a:avLst/>
            <a:gdLst/>
            <a:ahLst/>
            <a:cxnLst/>
            <a:rect r="r" b="b" t="t" l="l"/>
            <a:pathLst>
              <a:path h="4493262" w="5372819">
                <a:moveTo>
                  <a:pt x="0" y="0"/>
                </a:moveTo>
                <a:lnTo>
                  <a:pt x="5372819" y="0"/>
                </a:lnTo>
                <a:lnTo>
                  <a:pt x="5372819" y="4493262"/>
                </a:lnTo>
                <a:lnTo>
                  <a:pt x="0" y="449326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606" t="0" r="-34954" b="-16219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0732384" y="3445934"/>
            <a:ext cx="6526916" cy="4546179"/>
          </a:xfrm>
          <a:custGeom>
            <a:avLst/>
            <a:gdLst/>
            <a:ahLst/>
            <a:cxnLst/>
            <a:rect r="r" b="b" t="t" l="l"/>
            <a:pathLst>
              <a:path h="4546179" w="6526916">
                <a:moveTo>
                  <a:pt x="0" y="0"/>
                </a:moveTo>
                <a:lnTo>
                  <a:pt x="6526916" y="0"/>
                </a:lnTo>
                <a:lnTo>
                  <a:pt x="6526916" y="4546179"/>
                </a:lnTo>
                <a:lnTo>
                  <a:pt x="0" y="454617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26196" t="0" r="-18466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17259300" y="9407051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107939" y="866775"/>
            <a:ext cx="14834810" cy="137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6"/>
              </a:lnSpc>
            </a:pPr>
            <a:r>
              <a:rPr lang="en-US" sz="7997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BACKGROUND &amp; PROBLEM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28700" y="4014091"/>
            <a:ext cx="10471086" cy="347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4672" indent="-427336" lvl="1">
              <a:lnSpc>
                <a:spcPts val="5542"/>
              </a:lnSpc>
              <a:buFont typeface="Arial"/>
              <a:buChar char="•"/>
            </a:pPr>
            <a:r>
              <a:rPr lang="en-US" sz="3958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Web servers handle client requests</a:t>
            </a:r>
          </a:p>
          <a:p>
            <a:pPr algn="l" marL="854672" indent="-427336" lvl="1">
              <a:lnSpc>
                <a:spcPts val="5542"/>
              </a:lnSpc>
              <a:buFont typeface="Arial"/>
              <a:buChar char="•"/>
            </a:pPr>
            <a:r>
              <a:rPr lang="en-US" sz="3958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Core part of internet</a:t>
            </a:r>
            <a:r>
              <a:rPr lang="en-US" sz="3958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services</a:t>
            </a:r>
          </a:p>
          <a:p>
            <a:pPr algn="l" marL="854672" indent="-427336" lvl="1">
              <a:lnSpc>
                <a:spcPts val="5542"/>
              </a:lnSpc>
              <a:buFont typeface="Arial"/>
              <a:buChar char="•"/>
            </a:pPr>
            <a:r>
              <a:rPr lang="en-US" sz="3958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</a:t>
            </a:r>
            <a:r>
              <a:rPr lang="en-US" sz="3958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efault servers lack s</a:t>
            </a:r>
            <a:r>
              <a:rPr lang="en-US" sz="3958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ec</a:t>
            </a:r>
            <a:r>
              <a:rPr lang="en-US" sz="3958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urity</a:t>
            </a:r>
          </a:p>
          <a:p>
            <a:pPr algn="l" marL="854672" indent="-427336" lvl="1">
              <a:lnSpc>
                <a:spcPts val="5542"/>
              </a:lnSpc>
              <a:buFont typeface="Arial"/>
              <a:buChar char="•"/>
            </a:pPr>
            <a:r>
              <a:rPr lang="en-US" sz="3958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Risk: unauthorized access, cyber attacks</a:t>
            </a:r>
          </a:p>
          <a:p>
            <a:pPr algn="ctr">
              <a:lnSpc>
                <a:spcPts val="5542"/>
              </a:lnSpc>
              <a:spcBef>
                <a:spcPct val="0"/>
              </a:spcBef>
            </a:pPr>
          </a:p>
        </p:txBody>
      </p:sp>
      <p:sp>
        <p:nvSpPr>
          <p:cNvPr name="TextBox 7" id="7"/>
          <p:cNvSpPr txBox="true"/>
          <p:nvPr/>
        </p:nvSpPr>
        <p:spPr>
          <a:xfrm rot="0">
            <a:off x="3292528" y="9895840"/>
            <a:ext cx="10465632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Photos retrieved from Google Gemini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343243" y="3075765"/>
            <a:ext cx="3782786" cy="4417649"/>
          </a:xfrm>
          <a:custGeom>
            <a:avLst/>
            <a:gdLst/>
            <a:ahLst/>
            <a:cxnLst/>
            <a:rect r="r" b="b" t="t" l="l"/>
            <a:pathLst>
              <a:path h="4417649" w="3782786">
                <a:moveTo>
                  <a:pt x="0" y="0"/>
                </a:moveTo>
                <a:lnTo>
                  <a:pt x="3782785" y="0"/>
                </a:lnTo>
                <a:lnTo>
                  <a:pt x="3782785" y="4417649"/>
                </a:lnTo>
                <a:lnTo>
                  <a:pt x="0" y="441764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26136" r="-174430" b="-30239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407051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107939" y="866775"/>
            <a:ext cx="14834810" cy="137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6"/>
              </a:lnSpc>
            </a:pPr>
            <a:r>
              <a:rPr lang="en-US" sz="7997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MOTIVATION &amp; GOAL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014091"/>
            <a:ext cx="10471086" cy="34793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54672" indent="-427336" lvl="1">
              <a:lnSpc>
                <a:spcPts val="5542"/>
              </a:lnSpc>
              <a:buFont typeface="Arial"/>
              <a:buChar char="•"/>
            </a:pPr>
            <a:r>
              <a:rPr lang="en-US" sz="3958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Rising cyber threats</a:t>
            </a:r>
          </a:p>
          <a:p>
            <a:pPr algn="l" marL="854672" indent="-427336" lvl="1">
              <a:lnSpc>
                <a:spcPts val="5542"/>
              </a:lnSpc>
              <a:buFont typeface="Arial"/>
              <a:buChar char="•"/>
            </a:pPr>
            <a:r>
              <a:rPr lang="en-US" sz="3958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Need secure sy</a:t>
            </a:r>
            <a:r>
              <a:rPr lang="en-US" sz="3958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stems</a:t>
            </a:r>
          </a:p>
          <a:p>
            <a:pPr algn="l" marL="854672" indent="-427336" lvl="1">
              <a:lnSpc>
                <a:spcPts val="5542"/>
              </a:lnSpc>
              <a:buFont typeface="Arial"/>
              <a:buChar char="•"/>
            </a:pPr>
            <a:r>
              <a:rPr lang="en-US" sz="3958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Pr</a:t>
            </a:r>
            <a:r>
              <a:rPr lang="en-US" sz="3958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otect sensitive data</a:t>
            </a:r>
          </a:p>
          <a:p>
            <a:pPr algn="l" marL="854672" indent="-427336" lvl="1">
              <a:lnSpc>
                <a:spcPts val="5542"/>
              </a:lnSpc>
              <a:buFont typeface="Arial"/>
              <a:buChar char="•"/>
            </a:pPr>
            <a:r>
              <a:rPr lang="en-US" sz="3958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Goal: Sec</a:t>
            </a:r>
            <a:r>
              <a:rPr lang="en-US" sz="3958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ure &amp; reliable web server</a:t>
            </a:r>
          </a:p>
          <a:p>
            <a:pPr algn="ctr">
              <a:lnSpc>
                <a:spcPts val="5542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292528" y="9895840"/>
            <a:ext cx="10465632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Photos retrieved from Google Gemini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8471" y="0"/>
            <a:ext cx="2119542" cy="10287000"/>
            <a:chOff x="0" y="0"/>
            <a:chExt cx="55823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6BD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0"/>
            <a:ext cx="2119542" cy="10287000"/>
            <a:chOff x="0" y="0"/>
            <a:chExt cx="5582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993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1071" y="0"/>
            <a:ext cx="2119542" cy="10287000"/>
            <a:chOff x="0" y="0"/>
            <a:chExt cx="55823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46F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208013" y="2379540"/>
            <a:ext cx="12112646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OBJECTIVES &amp; SYSTEM ARCHITECTURE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8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31869" y="5560890"/>
            <a:ext cx="838007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-SHISITA SARKAR SETU (232-15-762)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1775322" y="3671660"/>
            <a:ext cx="6918627" cy="3891728"/>
          </a:xfrm>
          <a:custGeom>
            <a:avLst/>
            <a:gdLst/>
            <a:ahLst/>
            <a:cxnLst/>
            <a:rect r="r" b="b" t="t" l="l"/>
            <a:pathLst>
              <a:path h="3891728" w="6918627">
                <a:moveTo>
                  <a:pt x="0" y="0"/>
                </a:moveTo>
                <a:lnTo>
                  <a:pt x="6918627" y="0"/>
                </a:lnTo>
                <a:lnTo>
                  <a:pt x="6918627" y="3891728"/>
                </a:lnTo>
                <a:lnTo>
                  <a:pt x="0" y="389172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504" t="0" r="-504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407051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9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99826" y="434121"/>
            <a:ext cx="14834810" cy="137801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6"/>
              </a:lnSpc>
            </a:pPr>
            <a:r>
              <a:rPr lang="en-US" sz="7997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PROJECT OBJECTIVES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399826" y="2958805"/>
            <a:ext cx="9860092" cy="525076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804801" indent="-402401" lvl="1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Deploy Apache Web Server on Linux</a:t>
            </a:r>
          </a:p>
          <a:p>
            <a:pPr algn="l" marL="804801" indent="-402401" lvl="1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Enable Multi-site Hosting (Virtual Host)</a:t>
            </a:r>
          </a:p>
          <a:p>
            <a:pPr algn="l" marL="804801" indent="-402401" lvl="1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Implement Secure Communication (HTTPS)</a:t>
            </a:r>
          </a:p>
          <a:p>
            <a:pPr algn="l" marL="804801" indent="-402401" lvl="1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Configure Firewall (UFW)</a:t>
            </a:r>
          </a:p>
          <a:p>
            <a:pPr algn="l" marL="804801" indent="-402401" lvl="1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Monitor Server Activity (Logs)</a:t>
            </a:r>
          </a:p>
          <a:p>
            <a:pPr algn="l" marL="804801" indent="-402401" lvl="1">
              <a:lnSpc>
                <a:spcPts val="5218"/>
              </a:lnSpc>
              <a:buFont typeface="Arial"/>
              <a:buChar char="•"/>
            </a:pPr>
            <a:r>
              <a:rPr lang="en-US" sz="372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Apply Basic Security Hardening</a:t>
            </a:r>
          </a:p>
          <a:p>
            <a:pPr algn="l">
              <a:lnSpc>
                <a:spcPts val="5218"/>
              </a:lnSpc>
            </a:pPr>
          </a:p>
          <a:p>
            <a:pPr algn="ctr">
              <a:lnSpc>
                <a:spcPts val="5218"/>
              </a:lnSpc>
              <a:spcBef>
                <a:spcPct val="0"/>
              </a:spcBef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3292528" y="9895840"/>
            <a:ext cx="10465632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Photos retrieved from Google Gemini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23701" y="2479172"/>
            <a:ext cx="10676590" cy="692994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484"/>
              </a:lnSpc>
            </a:pPr>
            <a:r>
              <a:rPr lang="en-US" sz="391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User (Browser)</a:t>
            </a:r>
          </a:p>
          <a:p>
            <a:pPr algn="ctr">
              <a:lnSpc>
                <a:spcPts val="5484"/>
              </a:lnSpc>
            </a:pPr>
            <a:r>
              <a:rPr lang="en-US" sz="391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       ↓</a:t>
            </a:r>
          </a:p>
          <a:p>
            <a:pPr algn="ctr">
              <a:lnSpc>
                <a:spcPts val="5484"/>
              </a:lnSpc>
            </a:pPr>
            <a:r>
              <a:rPr lang="en-US" sz="391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Apache Web Server</a:t>
            </a:r>
          </a:p>
          <a:p>
            <a:pPr algn="ctr">
              <a:lnSpc>
                <a:spcPts val="5484"/>
              </a:lnSpc>
            </a:pPr>
            <a:r>
              <a:rPr lang="en-US" sz="391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       ↓</a:t>
            </a:r>
          </a:p>
          <a:p>
            <a:pPr algn="ctr">
              <a:lnSpc>
                <a:spcPts val="5484"/>
              </a:lnSpc>
            </a:pPr>
            <a:r>
              <a:rPr lang="en-US" sz="391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Linux OS (Ubuntu)</a:t>
            </a:r>
          </a:p>
          <a:p>
            <a:pPr algn="ctr">
              <a:lnSpc>
                <a:spcPts val="5484"/>
              </a:lnSpc>
            </a:pPr>
            <a:r>
              <a:rPr lang="en-US" sz="391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       ↓</a:t>
            </a:r>
          </a:p>
          <a:p>
            <a:pPr algn="ctr">
              <a:lnSpc>
                <a:spcPts val="5484"/>
              </a:lnSpc>
            </a:pPr>
            <a:r>
              <a:rPr lang="en-US" sz="391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Security Layer (HTTPS + Firewall)</a:t>
            </a:r>
          </a:p>
          <a:p>
            <a:pPr algn="ctr">
              <a:lnSpc>
                <a:spcPts val="5484"/>
              </a:lnSpc>
            </a:pPr>
            <a:r>
              <a:rPr lang="en-US" sz="391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        ↓</a:t>
            </a:r>
          </a:p>
          <a:p>
            <a:pPr algn="ctr">
              <a:lnSpc>
                <a:spcPts val="5484"/>
              </a:lnSpc>
            </a:pPr>
            <a:r>
              <a:rPr lang="en-US" sz="3917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Monitoring Layer (Logs)</a:t>
            </a:r>
          </a:p>
          <a:p>
            <a:pPr algn="ctr">
              <a:lnSpc>
                <a:spcPts val="5484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11900291" y="2889935"/>
            <a:ext cx="6929640" cy="3959794"/>
          </a:xfrm>
          <a:custGeom>
            <a:avLst/>
            <a:gdLst/>
            <a:ahLst/>
            <a:cxnLst/>
            <a:rect r="r" b="b" t="t" l="l"/>
            <a:pathLst>
              <a:path h="3959794" w="6929640">
                <a:moveTo>
                  <a:pt x="0" y="0"/>
                </a:moveTo>
                <a:lnTo>
                  <a:pt x="6929640" y="0"/>
                </a:lnTo>
                <a:lnTo>
                  <a:pt x="6929640" y="3959794"/>
                </a:lnTo>
                <a:lnTo>
                  <a:pt x="0" y="39597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10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-911069" y="318550"/>
            <a:ext cx="16741692" cy="13949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315"/>
              </a:lnSpc>
            </a:pPr>
            <a:r>
              <a:rPr lang="en-US" sz="8082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SYSTEM ARCHITECTURE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92528" y="9895840"/>
            <a:ext cx="10465632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Photos retrieved from Google Gemini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" id="4"/>
          <p:cNvSpPr txBox="true"/>
          <p:nvPr/>
        </p:nvSpPr>
        <p:spPr>
          <a:xfrm rot="0">
            <a:off x="2180061" y="3846579"/>
            <a:ext cx="13024434" cy="3596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888183" indent="-444091" lvl="1">
              <a:lnSpc>
                <a:spcPts val="5759"/>
              </a:lnSpc>
              <a:buFont typeface="Arial"/>
              <a:buChar char="•"/>
            </a:pPr>
            <a:r>
              <a:rPr lang="en-US" sz="4113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Virtual Hosting → Multiple websites</a:t>
            </a:r>
          </a:p>
          <a:p>
            <a:pPr algn="ctr" marL="888183" indent="-444091" lvl="1">
              <a:lnSpc>
                <a:spcPts val="5759"/>
              </a:lnSpc>
              <a:buFont typeface="Arial"/>
              <a:buChar char="•"/>
            </a:pPr>
            <a:r>
              <a:rPr lang="en-US" sz="4113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HTTPS → Secure encrypted communication</a:t>
            </a:r>
          </a:p>
          <a:p>
            <a:pPr algn="ctr" marL="888183" indent="-444091" lvl="1">
              <a:lnSpc>
                <a:spcPts val="5759"/>
              </a:lnSpc>
              <a:buFont typeface="Arial"/>
              <a:buChar char="•"/>
            </a:pPr>
            <a:r>
              <a:rPr lang="en-US" sz="4113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Firewall (UFW) → Access control</a:t>
            </a:r>
          </a:p>
          <a:p>
            <a:pPr algn="ctr" marL="888183" indent="-444091" lvl="1">
              <a:lnSpc>
                <a:spcPts val="5759"/>
              </a:lnSpc>
              <a:buFont typeface="Arial"/>
              <a:buChar char="•"/>
            </a:pPr>
            <a:r>
              <a:rPr lang="en-US" sz="4113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Monitoring → Log tracking &amp; analysis</a:t>
            </a:r>
          </a:p>
          <a:p>
            <a:pPr algn="ctr">
              <a:lnSpc>
                <a:spcPts val="575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11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846193" y="866775"/>
            <a:ext cx="13358301" cy="137795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1199"/>
              </a:lnSpc>
              <a:spcBef>
                <a:spcPct val="0"/>
              </a:spcBef>
            </a:pPr>
            <a:r>
              <a:rPr lang="en-US" sz="7999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Core Components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3292528" y="9895840"/>
            <a:ext cx="10465632" cy="6661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</a:pP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Photos retrieved from Google Gemini</a:t>
            </a:r>
          </a:p>
          <a:p>
            <a:pPr algn="ctr">
              <a:lnSpc>
                <a:spcPts val="265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push dir="l"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8471" y="0"/>
            <a:ext cx="2119542" cy="10287000"/>
            <a:chOff x="0" y="0"/>
            <a:chExt cx="55823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6BD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0"/>
            <a:ext cx="2119542" cy="10287000"/>
            <a:chOff x="0" y="0"/>
            <a:chExt cx="5582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993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1071" y="0"/>
            <a:ext cx="2119542" cy="10287000"/>
            <a:chOff x="0" y="0"/>
            <a:chExt cx="55823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46F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280068" y="2514600"/>
            <a:ext cx="9558633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METHODOLOGY &amp; PROJRCT PLAN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31869" y="5560890"/>
            <a:ext cx="838007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-HABIBUR RAHMAN (232-15-288)</a:t>
            </a:r>
          </a:p>
        </p:txBody>
      </p:sp>
    </p:spTree>
  </p:cSld>
  <p:clrMapOvr>
    <a:masterClrMapping/>
  </p:clrMapOvr>
  <p:transition spd="fast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13</a:t>
            </a:r>
          </a:p>
        </p:txBody>
      </p:sp>
    </p:spTree>
  </p:cSld>
  <p:clrMapOvr>
    <a:masterClrMapping/>
  </p:clrMapOvr>
  <p:transition spd="fast">
    <p:push dir="l"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8471" y="0"/>
            <a:ext cx="2119542" cy="10287000"/>
            <a:chOff x="0" y="0"/>
            <a:chExt cx="55823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6BD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0"/>
            <a:ext cx="2119542" cy="10287000"/>
            <a:chOff x="0" y="0"/>
            <a:chExt cx="5582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993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1071" y="0"/>
            <a:ext cx="2119542" cy="10287000"/>
            <a:chOff x="0" y="0"/>
            <a:chExt cx="55823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46F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5280068" y="2514600"/>
            <a:ext cx="9558633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IMPLEMENTATION &amp; DEMO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15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631869" y="5560890"/>
            <a:ext cx="838007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-SHAFIN AHMED (232-15-184)</a:t>
            </a: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3746237" y="62614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4"/>
                </a:lnTo>
                <a:lnTo>
                  <a:pt x="0" y="1698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819239" y="606844"/>
            <a:ext cx="10649521" cy="2308288"/>
            <a:chOff x="0" y="0"/>
            <a:chExt cx="14199361" cy="3077717"/>
          </a:xfrm>
        </p:grpSpPr>
        <p:sp>
          <p:nvSpPr>
            <p:cNvPr name="TextBox 4" id="4"/>
            <p:cNvSpPr txBox="true"/>
            <p:nvPr/>
          </p:nvSpPr>
          <p:spPr>
            <a:xfrm rot="0">
              <a:off x="0" y="123825"/>
              <a:ext cx="14199361" cy="1186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5"/>
                </a:lnSpc>
              </a:pPr>
              <a:r>
                <a:rPr lang="en-US" sz="65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Features Check &amp; Verify </a:t>
              </a:r>
            </a:p>
          </p:txBody>
        </p:sp>
        <p:sp>
          <p:nvSpPr>
            <p:cNvPr name="TextBox 5" id="5"/>
            <p:cNvSpPr txBox="true"/>
            <p:nvPr/>
          </p:nvSpPr>
          <p:spPr>
            <a:xfrm rot="0">
              <a:off x="0" y="2633621"/>
              <a:ext cx="10145426" cy="44409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2331811" y="9624784"/>
            <a:ext cx="3900587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Presented By Shafin Ahmed_232-15-184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3434028" y="9258300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5286188" y="9482226"/>
            <a:ext cx="2327970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</a:t>
            </a:r>
            <a:r>
              <a:rPr lang="en-US" sz="1899" i="true">
                <a:solidFill>
                  <a:srgbClr val="000000"/>
                </a:solidFill>
                <a:latin typeface="Abhaya Libre Italics"/>
                <a:ea typeface="Abhaya Libre Italics"/>
                <a:cs typeface="Abhaya Libre Italics"/>
                <a:sym typeface="Abhaya Libre Italics"/>
              </a:rPr>
              <a:t>hoto credit Plant UML</a:t>
            </a: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 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80108" y="2247535"/>
            <a:ext cx="13831526" cy="64528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209041" indent="-604520" lvl="1">
              <a:lnSpc>
                <a:spcPts val="10360"/>
              </a:lnSpc>
              <a:buAutoNum type="arabicPeriod" startAt="1"/>
            </a:pPr>
            <a:r>
              <a:rPr lang="en-US" sz="56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Server Status </a:t>
            </a:r>
          </a:p>
          <a:p>
            <a:pPr algn="l" marL="1209041" indent="-604520" lvl="1">
              <a:lnSpc>
                <a:spcPts val="10360"/>
              </a:lnSpc>
              <a:buAutoNum type="arabicPeriod" startAt="1"/>
            </a:pPr>
            <a:r>
              <a:rPr lang="en-US" sz="56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 Virtual Hosting</a:t>
            </a:r>
          </a:p>
          <a:p>
            <a:pPr algn="l" marL="1209041" indent="-604520" lvl="1">
              <a:lnSpc>
                <a:spcPts val="10360"/>
              </a:lnSpc>
              <a:buAutoNum type="arabicPeriod" startAt="1"/>
            </a:pPr>
            <a:r>
              <a:rPr lang="en-US" sz="56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HTTPS Configuraton</a:t>
            </a:r>
          </a:p>
          <a:p>
            <a:pPr algn="l" marL="1209041" indent="-604520" lvl="1">
              <a:lnSpc>
                <a:spcPts val="10360"/>
              </a:lnSpc>
              <a:buAutoNum type="arabicPeriod" startAt="1"/>
            </a:pPr>
            <a:r>
              <a:rPr lang="en-US" sz="56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Firewall Setup</a:t>
            </a:r>
          </a:p>
          <a:p>
            <a:pPr algn="l" marL="1209041" indent="-604520" lvl="1">
              <a:lnSpc>
                <a:spcPts val="10360"/>
              </a:lnSpc>
              <a:buAutoNum type="arabicPeriod" startAt="1"/>
            </a:pPr>
            <a:r>
              <a:rPr lang="en-US" sz="5600">
                <a:solidFill>
                  <a:srgbClr val="000000"/>
                </a:solidFill>
                <a:latin typeface="Source Sans 3"/>
                <a:ea typeface="Source Sans 3"/>
                <a:cs typeface="Source Sans 3"/>
                <a:sym typeface="Source Sans 3"/>
              </a:rPr>
              <a:t>Access Monitoring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653910" y="4147141"/>
            <a:ext cx="6796262" cy="2237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959"/>
              </a:lnSpc>
              <a:spcBef>
                <a:spcPct val="0"/>
              </a:spcBef>
            </a:pPr>
            <a:r>
              <a:rPr lang="en-US" b="true" sz="6399">
                <a:solidFill>
                  <a:srgbClr val="000000"/>
                </a:solidFill>
                <a:latin typeface="Abhaya Libre Bold"/>
                <a:ea typeface="Abhaya Libre Bold"/>
                <a:cs typeface="Abhaya Libre Bold"/>
                <a:sym typeface="Abhaya Libre Bold"/>
              </a:rPr>
              <a:t>🎞️LIVE Demonstration</a:t>
            </a:r>
          </a:p>
        </p:txBody>
      </p:sp>
    </p:spTree>
  </p:cSld>
  <p:clrMapOvr>
    <a:masterClrMapping/>
  </p:clrMapOvr>
  <p:transition spd="fast">
    <p:push dir="l"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69082" y="62614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4"/>
                </a:lnTo>
                <a:lnTo>
                  <a:pt x="0" y="1698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52232" y="8937441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517020" y="2225873"/>
            <a:ext cx="15742280" cy="5835253"/>
          </a:xfrm>
          <a:custGeom>
            <a:avLst/>
            <a:gdLst/>
            <a:ahLst/>
            <a:cxnLst/>
            <a:rect r="r" b="b" t="t" l="l"/>
            <a:pathLst>
              <a:path h="5835253" w="15742280">
                <a:moveTo>
                  <a:pt x="0" y="0"/>
                </a:moveTo>
                <a:lnTo>
                  <a:pt x="15742280" y="0"/>
                </a:lnTo>
                <a:lnTo>
                  <a:pt x="15742280" y="5835254"/>
                </a:lnTo>
                <a:lnTo>
                  <a:pt x="0" y="583525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7486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014392" y="608974"/>
            <a:ext cx="10041702" cy="2304027"/>
            <a:chOff x="0" y="0"/>
            <a:chExt cx="13388936" cy="307203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3825"/>
              <a:ext cx="13388936" cy="1186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5"/>
                </a:lnSpc>
              </a:pPr>
              <a:r>
                <a:rPr lang="en-US" sz="65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Server Status Verify 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633621"/>
              <a:ext cx="10145426" cy="438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8889816"/>
            <a:ext cx="3900587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Presented By Shafin Ahmed_232-15-184</a:t>
            </a:r>
          </a:p>
        </p:txBody>
      </p:sp>
    </p:spTree>
  </p:cSld>
  <p:clrMapOvr>
    <a:masterClrMapping/>
  </p:clrMapOvr>
  <p:transition spd="fast">
    <p:push dir="l"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69082" y="62614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4"/>
                </a:lnTo>
                <a:lnTo>
                  <a:pt x="0" y="1698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52232" y="8937441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630390" y="2060396"/>
            <a:ext cx="14070947" cy="6578168"/>
          </a:xfrm>
          <a:custGeom>
            <a:avLst/>
            <a:gdLst/>
            <a:ahLst/>
            <a:cxnLst/>
            <a:rect r="r" b="b" t="t" l="l"/>
            <a:pathLst>
              <a:path h="6578168" w="14070947">
                <a:moveTo>
                  <a:pt x="0" y="0"/>
                </a:moveTo>
                <a:lnTo>
                  <a:pt x="14070947" y="0"/>
                </a:lnTo>
                <a:lnTo>
                  <a:pt x="14070947" y="6578168"/>
                </a:lnTo>
                <a:lnTo>
                  <a:pt x="0" y="657816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19854" y="608974"/>
            <a:ext cx="18492019" cy="2304027"/>
            <a:chOff x="0" y="0"/>
            <a:chExt cx="24656025" cy="307203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3825"/>
              <a:ext cx="24656025" cy="1186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5"/>
                </a:lnSpc>
              </a:pPr>
              <a:r>
                <a:rPr lang="en-US" sz="65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Checking Virtual Host Configuration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633621"/>
              <a:ext cx="18683029" cy="438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8889816"/>
            <a:ext cx="3900587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Presented By Shafin Ahmed_232-15-184</a:t>
            </a:r>
          </a:p>
        </p:txBody>
      </p:sp>
    </p:spTree>
  </p:cSld>
  <p:clrMapOvr>
    <a:masterClrMapping/>
  </p:clrMapOvr>
  <p:transition spd="fast">
    <p:push dir="l"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69082" y="62614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4"/>
                </a:lnTo>
                <a:lnTo>
                  <a:pt x="0" y="1698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52232" y="8937441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997139" y="2377433"/>
            <a:ext cx="12558914" cy="2766067"/>
          </a:xfrm>
          <a:custGeom>
            <a:avLst/>
            <a:gdLst/>
            <a:ahLst/>
            <a:cxnLst/>
            <a:rect r="r" b="b" t="t" l="l"/>
            <a:pathLst>
              <a:path h="2766067" w="12558914">
                <a:moveTo>
                  <a:pt x="0" y="0"/>
                </a:moveTo>
                <a:lnTo>
                  <a:pt x="12558914" y="0"/>
                </a:lnTo>
                <a:lnTo>
                  <a:pt x="12558914" y="2766067"/>
                </a:lnTo>
                <a:lnTo>
                  <a:pt x="0" y="2766067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2997139" y="5683628"/>
            <a:ext cx="12540768" cy="2488635"/>
          </a:xfrm>
          <a:custGeom>
            <a:avLst/>
            <a:gdLst/>
            <a:ahLst/>
            <a:cxnLst/>
            <a:rect r="r" b="b" t="t" l="l"/>
            <a:pathLst>
              <a:path h="2488635" w="12540768">
                <a:moveTo>
                  <a:pt x="0" y="0"/>
                </a:moveTo>
                <a:lnTo>
                  <a:pt x="12540768" y="0"/>
                </a:lnTo>
                <a:lnTo>
                  <a:pt x="12540768" y="2488635"/>
                </a:lnTo>
                <a:lnTo>
                  <a:pt x="0" y="248863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419854" y="608974"/>
            <a:ext cx="18492019" cy="2304027"/>
            <a:chOff x="0" y="0"/>
            <a:chExt cx="24656025" cy="3072036"/>
          </a:xfrm>
        </p:grpSpPr>
        <p:sp>
          <p:nvSpPr>
            <p:cNvPr name="TextBox 7" id="7"/>
            <p:cNvSpPr txBox="true"/>
            <p:nvPr/>
          </p:nvSpPr>
          <p:spPr>
            <a:xfrm rot="0">
              <a:off x="0" y="123825"/>
              <a:ext cx="24656025" cy="1186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5"/>
                </a:lnSpc>
              </a:pPr>
              <a:r>
                <a:rPr lang="en-US" sz="65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HTTPS Configuration Verify </a:t>
              </a:r>
            </a:p>
          </p:txBody>
        </p:sp>
        <p:sp>
          <p:nvSpPr>
            <p:cNvPr name="TextBox 8" id="8"/>
            <p:cNvSpPr txBox="true"/>
            <p:nvPr/>
          </p:nvSpPr>
          <p:spPr>
            <a:xfrm rot="0">
              <a:off x="0" y="2633621"/>
              <a:ext cx="18683029" cy="438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028700" y="8889816"/>
            <a:ext cx="3900587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Presented By Shafin Ahmed_232-15-184</a:t>
            </a:r>
          </a:p>
        </p:txBody>
      </p:sp>
    </p:spTree>
  </p:cSld>
  <p:clrMapOvr>
    <a:masterClrMapping/>
  </p:clrMapOvr>
  <p:transition spd="fast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69082" y="62614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4"/>
                </a:lnTo>
                <a:lnTo>
                  <a:pt x="0" y="1698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52232" y="8937441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028700" y="2149061"/>
            <a:ext cx="16194025" cy="5988877"/>
          </a:xfrm>
          <a:custGeom>
            <a:avLst/>
            <a:gdLst/>
            <a:ahLst/>
            <a:cxnLst/>
            <a:rect r="r" b="b" t="t" l="l"/>
            <a:pathLst>
              <a:path h="5988877" w="16194025">
                <a:moveTo>
                  <a:pt x="0" y="0"/>
                </a:moveTo>
                <a:lnTo>
                  <a:pt x="16194025" y="0"/>
                </a:lnTo>
                <a:lnTo>
                  <a:pt x="16194025" y="5988878"/>
                </a:lnTo>
                <a:lnTo>
                  <a:pt x="0" y="598887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19854" y="608974"/>
            <a:ext cx="18492019" cy="2304027"/>
            <a:chOff x="0" y="0"/>
            <a:chExt cx="24656025" cy="307203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3825"/>
              <a:ext cx="24656025" cy="1186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5"/>
                </a:lnSpc>
              </a:pPr>
              <a:r>
                <a:rPr lang="en-US" sz="65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Firewall Check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633621"/>
              <a:ext cx="18683029" cy="438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8889816"/>
            <a:ext cx="3900587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Presented By Shafin Ahmed_232-15-184</a:t>
            </a:r>
          </a:p>
        </p:txBody>
      </p:sp>
    </p:spTree>
  </p:cSld>
  <p:clrMapOvr>
    <a:masterClrMapping/>
  </p:clrMapOvr>
  <p:transition spd="fast">
    <p:push dir="l"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569082" y="62614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4"/>
                </a:lnTo>
                <a:lnTo>
                  <a:pt x="0" y="169837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4752232" y="8937441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6" y="0"/>
                </a:lnTo>
                <a:lnTo>
                  <a:pt x="5014136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2200140" y="2192420"/>
            <a:ext cx="13887720" cy="6313588"/>
          </a:xfrm>
          <a:custGeom>
            <a:avLst/>
            <a:gdLst/>
            <a:ahLst/>
            <a:cxnLst/>
            <a:rect r="r" b="b" t="t" l="l"/>
            <a:pathLst>
              <a:path h="6313588" w="13887720">
                <a:moveTo>
                  <a:pt x="0" y="0"/>
                </a:moveTo>
                <a:lnTo>
                  <a:pt x="13887720" y="0"/>
                </a:lnTo>
                <a:lnTo>
                  <a:pt x="13887720" y="6313588"/>
                </a:lnTo>
                <a:lnTo>
                  <a:pt x="0" y="631358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19854" y="608974"/>
            <a:ext cx="18492019" cy="2304027"/>
            <a:chOff x="0" y="0"/>
            <a:chExt cx="24656025" cy="3072036"/>
          </a:xfrm>
        </p:grpSpPr>
        <p:sp>
          <p:nvSpPr>
            <p:cNvPr name="TextBox 6" id="6"/>
            <p:cNvSpPr txBox="true"/>
            <p:nvPr/>
          </p:nvSpPr>
          <p:spPr>
            <a:xfrm rot="0">
              <a:off x="0" y="123825"/>
              <a:ext cx="24656025" cy="11868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435"/>
                </a:lnSpc>
              </a:pPr>
              <a:r>
                <a:rPr lang="en-US" sz="6500">
                  <a:solidFill>
                    <a:srgbClr val="000000"/>
                  </a:solidFill>
                  <a:latin typeface="League Spartan"/>
                  <a:ea typeface="League Spartan"/>
                  <a:cs typeface="League Spartan"/>
                  <a:sym typeface="League Spartan"/>
                </a:rPr>
                <a:t>Verifying Access Monitoring </a:t>
              </a:r>
            </a:p>
          </p:txBody>
        </p:sp>
        <p:sp>
          <p:nvSpPr>
            <p:cNvPr name="TextBox 7" id="7"/>
            <p:cNvSpPr txBox="true"/>
            <p:nvPr/>
          </p:nvSpPr>
          <p:spPr>
            <a:xfrm rot="0">
              <a:off x="0" y="2633621"/>
              <a:ext cx="18683029" cy="4384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707"/>
                </a:lnSpc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028700" y="8889816"/>
            <a:ext cx="3900587" cy="3327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59"/>
              </a:lnSpc>
              <a:spcBef>
                <a:spcPct val="0"/>
              </a:spcBef>
            </a:pPr>
            <a:r>
              <a:rPr lang="en-US" sz="1899">
                <a:solidFill>
                  <a:srgbClr val="000000"/>
                </a:solidFill>
                <a:latin typeface="Abhaya Libre"/>
                <a:ea typeface="Abhaya Libre"/>
                <a:cs typeface="Abhaya Libre"/>
                <a:sym typeface="Abhaya Libre"/>
              </a:rPr>
              <a:t>Presented By Shafin Ahmed_232-15-184</a:t>
            </a:r>
          </a:p>
        </p:txBody>
      </p:sp>
    </p:spTree>
  </p:cSld>
  <p:clrMapOvr>
    <a:masterClrMapping/>
  </p:clrMapOvr>
  <p:transition spd="fast">
    <p:push dir="l"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8471" y="0"/>
            <a:ext cx="2119542" cy="10287000"/>
            <a:chOff x="0" y="0"/>
            <a:chExt cx="55823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6BD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0"/>
            <a:ext cx="2119542" cy="10287000"/>
            <a:chOff x="0" y="0"/>
            <a:chExt cx="5582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993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1071" y="0"/>
            <a:ext cx="2119542" cy="10287000"/>
            <a:chOff x="0" y="0"/>
            <a:chExt cx="55823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46F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22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3957784" y="3281028"/>
            <a:ext cx="12112646" cy="262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500"/>
              </a:lnSpc>
            </a:pPr>
            <a:r>
              <a:rPr lang="en-US" sz="7500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LIMITATIONS AND FUTURE WORK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222795" y="6139500"/>
            <a:ext cx="8380070" cy="679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99"/>
              </a:lnSpc>
            </a:pPr>
            <a:r>
              <a:rPr lang="en-US" sz="39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-SAKIB AHMED (232-15-085)</a:t>
            </a:r>
          </a:p>
        </p:txBody>
      </p:sp>
    </p:spTree>
  </p:cSld>
  <p:clrMapOvr>
    <a:masterClrMapping/>
  </p:clrMapOvr>
  <p:transition spd="fast">
    <p:push dir="l"/>
  </p:transition>
</p:sld>
</file>

<file path=ppt/slides/slide2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23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513601" y="1587230"/>
            <a:ext cx="1209633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34269" y="635031"/>
            <a:ext cx="1226410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5"/>
              </a:lnSpc>
            </a:pPr>
            <a:r>
              <a:rPr lang="en-US" sz="65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Limitations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5652621" y="813921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82278" y="163035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940197" y="1823308"/>
            <a:ext cx="15564161" cy="81659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135"/>
              </a:lnSpc>
            </a:pPr>
            <a:r>
              <a:rPr lang="en-US" sz="1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1.Virtu</a:t>
            </a:r>
            <a:r>
              <a:rPr lang="en-US" sz="1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alized Environment Limitation</a:t>
            </a:r>
          </a:p>
          <a:p>
            <a:pPr algn="l" marL="365871" indent="-182936" lvl="1">
              <a:lnSpc>
                <a:spcPts val="3135"/>
              </a:lnSpc>
              <a:buFont typeface="Arial"/>
              <a:buChar char="•"/>
            </a:pPr>
            <a:r>
              <a:rPr lang="en-US" sz="1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project is implemented using VirtualBox. This is good for learning and testing, but it does not fully represent a real production-level cloud or enterprise environment.</a:t>
            </a:r>
          </a:p>
          <a:p>
            <a:pPr algn="l">
              <a:lnSpc>
                <a:spcPts val="3135"/>
              </a:lnSpc>
            </a:pPr>
            <a:r>
              <a:rPr lang="en-US" sz="1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2.No Scalability and High Availability Features</a:t>
            </a:r>
          </a:p>
          <a:p>
            <a:pPr algn="l" marL="365871" indent="-182936" lvl="1">
              <a:lnSpc>
                <a:spcPts val="3135"/>
              </a:lnSpc>
              <a:buFont typeface="Arial"/>
              <a:buChar char="•"/>
            </a:pPr>
            <a:r>
              <a:rPr lang="en-US" sz="1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system does not include advanced features such as load balancing, clustering, or failover mechanisms. So, it may not handle large traffic or server failure properly.</a:t>
            </a:r>
          </a:p>
          <a:p>
            <a:pPr algn="l">
              <a:lnSpc>
                <a:spcPts val="3135"/>
              </a:lnSpc>
            </a:pPr>
            <a:r>
              <a:rPr lang="en-US" sz="1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3.Use of Self-Signed SSL Certificate</a:t>
            </a:r>
          </a:p>
          <a:p>
            <a:pPr algn="l" marL="365871" indent="-182936" lvl="1">
              <a:lnSpc>
                <a:spcPts val="3135"/>
              </a:lnSpc>
              <a:buFont typeface="Arial"/>
              <a:buChar char="•"/>
            </a:pPr>
            <a:r>
              <a:rPr lang="en-US" sz="1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project uses a self-signed SSL certificate for HTTPS. Although it enables encryption, browsers still show security warnings because the certificate is not issued by a trusted Certificate Authority (CA).</a:t>
            </a:r>
          </a:p>
          <a:p>
            <a:pPr algn="l">
              <a:lnSpc>
                <a:spcPts val="3135"/>
              </a:lnSpc>
            </a:pPr>
            <a:r>
              <a:rPr lang="en-US" sz="1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4.Basic Monitoring System</a:t>
            </a:r>
          </a:p>
          <a:p>
            <a:pPr algn="l" marL="365871" indent="-182936" lvl="1">
              <a:lnSpc>
                <a:spcPts val="3135"/>
              </a:lnSpc>
              <a:buFont typeface="Arial"/>
              <a:buChar char="•"/>
            </a:pPr>
            <a:r>
              <a:rPr lang="en-US" sz="1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The monitoring system is simple and mainly depends on manual log checking using commands like tail -f. There is no centralized logging system, alert system, or graphical dashboard.</a:t>
            </a:r>
          </a:p>
          <a:p>
            <a:pPr algn="l">
              <a:lnSpc>
                <a:spcPts val="3135"/>
              </a:lnSpc>
            </a:pPr>
            <a:r>
              <a:rPr lang="en-US" sz="1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5.Limited Automation</a:t>
            </a:r>
          </a:p>
          <a:p>
            <a:pPr algn="l" marL="365871" indent="-182936" lvl="1">
              <a:lnSpc>
                <a:spcPts val="3135"/>
              </a:lnSpc>
              <a:buFont typeface="Arial"/>
              <a:buChar char="•"/>
            </a:pPr>
            <a:r>
              <a:rPr lang="en-US" sz="1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Some shell scripts are used for automation, but the system is not fully automated or scalable. Tools like Ansible, Puppet, or Docker are not used for better deployment and portability.</a:t>
            </a:r>
          </a:p>
          <a:p>
            <a:pPr algn="l">
              <a:lnSpc>
                <a:spcPts val="3135"/>
              </a:lnSpc>
            </a:pPr>
            <a:r>
              <a:rPr lang="en-US" sz="1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6.Basic Security Hardening</a:t>
            </a:r>
          </a:p>
          <a:p>
            <a:pPr algn="l" marL="365871" indent="-182936" lvl="1">
              <a:lnSpc>
                <a:spcPts val="3135"/>
              </a:lnSpc>
              <a:buFont typeface="Arial"/>
              <a:buChar char="•"/>
            </a:pPr>
            <a:r>
              <a:rPr lang="en-US" sz="1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Security hardening is applied only at a basic level, mainly through firewall rules and Apache configuration. Advanced tools like IDS, fail2ban, or Web Application Firewall (WAF) are not integrated.</a:t>
            </a:r>
          </a:p>
          <a:p>
            <a:pPr algn="l">
              <a:lnSpc>
                <a:spcPts val="3135"/>
              </a:lnSpc>
            </a:pPr>
            <a:r>
              <a:rPr lang="en-US" sz="1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7.Not Fully Ready for Real-World Deployment</a:t>
            </a:r>
          </a:p>
          <a:p>
            <a:pPr algn="l" marL="365871" indent="-182936" lvl="1">
              <a:lnSpc>
                <a:spcPts val="3135"/>
              </a:lnSpc>
              <a:buFont typeface="Arial"/>
              <a:buChar char="•"/>
            </a:pPr>
            <a:r>
              <a:rPr lang="en-US" sz="16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Although the system works well for academic purposes, it still needs more improvements to meet industry-grade production standards.</a:t>
            </a:r>
          </a:p>
          <a:p>
            <a:pPr algn="l" marL="365871" indent="-182936" lvl="1">
              <a:lnSpc>
                <a:spcPts val="3135"/>
              </a:lnSpc>
              <a:buFont typeface="Arial"/>
              <a:buChar char="•"/>
            </a:pPr>
          </a:p>
        </p:txBody>
      </p:sp>
    </p:spTree>
  </p:cSld>
  <p:clrMapOvr>
    <a:masterClrMapping/>
  </p:clrMapOvr>
  <p:transition spd="fast">
    <p:push dir="l"/>
  </p:transition>
</p:sld>
</file>

<file path=ppt/slides/slide2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24</a:t>
            </a:r>
          </a:p>
        </p:txBody>
      </p:sp>
      <p:sp>
        <p:nvSpPr>
          <p:cNvPr name="AutoShape 3" id="3"/>
          <p:cNvSpPr/>
          <p:nvPr/>
        </p:nvSpPr>
        <p:spPr>
          <a:xfrm flipV="true">
            <a:off x="513601" y="1587230"/>
            <a:ext cx="12096337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434269" y="635031"/>
            <a:ext cx="1226410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5"/>
              </a:lnSpc>
            </a:pPr>
            <a:r>
              <a:rPr lang="en-US" sz="6500">
                <a:solidFill>
                  <a:srgbClr val="E7F5FF"/>
                </a:solidFill>
                <a:latin typeface="Chewy"/>
                <a:ea typeface="Chewy"/>
                <a:cs typeface="Chewy"/>
                <a:sym typeface="Chewy"/>
              </a:rPr>
              <a:t>Limitations</a:t>
            </a:r>
          </a:p>
        </p:txBody>
      </p:sp>
      <p:sp>
        <p:nvSpPr>
          <p:cNvPr name="Freeform 5" id="5"/>
          <p:cNvSpPr/>
          <p:nvPr/>
        </p:nvSpPr>
        <p:spPr>
          <a:xfrm flipH="false" flipV="false" rot="0">
            <a:off x="-5652621" y="8139218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14082278" y="163035"/>
            <a:ext cx="5014135" cy="1698373"/>
          </a:xfrm>
          <a:custGeom>
            <a:avLst/>
            <a:gdLst/>
            <a:ahLst/>
            <a:cxnLst/>
            <a:rect r="r" b="b" t="t" l="l"/>
            <a:pathLst>
              <a:path h="1698373" w="5014135">
                <a:moveTo>
                  <a:pt x="0" y="0"/>
                </a:moveTo>
                <a:lnTo>
                  <a:pt x="5014135" y="0"/>
                </a:lnTo>
                <a:lnTo>
                  <a:pt x="5014135" y="1698373"/>
                </a:lnTo>
                <a:lnTo>
                  <a:pt x="0" y="169837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586669" y="787431"/>
            <a:ext cx="12264100" cy="8686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435"/>
              </a:lnSpc>
            </a:pPr>
            <a:r>
              <a:rPr lang="en-US" sz="6500">
                <a:solidFill>
                  <a:srgbClr val="000000"/>
                </a:solidFill>
                <a:latin typeface="Chewy"/>
                <a:ea typeface="Chewy"/>
                <a:cs typeface="Chewy"/>
                <a:sym typeface="Chewy"/>
              </a:rPr>
              <a:t> Future Work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940197" y="1785208"/>
            <a:ext cx="16347803" cy="742105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95408" indent="-247704" lvl="1">
              <a:lnSpc>
                <a:spcPts val="4245"/>
              </a:lnSpc>
              <a:buFont typeface="Arial"/>
              <a:buChar char="•"/>
            </a:pPr>
            <a:r>
              <a:rPr lang="en-US" sz="22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D</a:t>
            </a:r>
            <a:r>
              <a:rPr lang="en-US" sz="22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evelopment of a fully automated deployment script (advanced Bash automation) to install and configure Apache, virtual hosts, firewall, and SSL with a single execution</a:t>
            </a:r>
          </a:p>
          <a:p>
            <a:pPr algn="l">
              <a:lnSpc>
                <a:spcPts val="4245"/>
              </a:lnSpc>
            </a:pPr>
            <a:r>
              <a:rPr lang="en-US" sz="22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● Improvement of the current shell scripts by adding error handling, logging, and rollback mechanisms for safer configuration changes </a:t>
            </a:r>
          </a:p>
          <a:p>
            <a:pPr algn="l">
              <a:lnSpc>
                <a:spcPts val="4245"/>
              </a:lnSpc>
            </a:pPr>
            <a:r>
              <a:rPr lang="en-US" sz="22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Integration of automated server health monitoring system that continuously checks Apache status, port availability, and disk usage</a:t>
            </a:r>
          </a:p>
          <a:p>
            <a:pPr algn="l">
              <a:lnSpc>
                <a:spcPts val="4245"/>
              </a:lnSpc>
            </a:pPr>
            <a:r>
              <a:rPr lang="en-US" sz="22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● Implementation of auto-restart mechanism for Apache service in case of failure using systemd service configurations</a:t>
            </a:r>
          </a:p>
          <a:p>
            <a:pPr algn="l">
              <a:lnSpc>
                <a:spcPts val="4245"/>
              </a:lnSpc>
            </a:pPr>
            <a:r>
              <a:rPr lang="en-US" sz="22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 ● Enhancement of log monitoring by adding automated log analysis scripts to detect suspicious activities (e.g., repeated 404/401 requests, brute-force patterns) </a:t>
            </a:r>
          </a:p>
          <a:p>
            <a:pPr algn="l">
              <a:lnSpc>
                <a:spcPts val="4245"/>
              </a:lnSpc>
            </a:pPr>
            <a:r>
              <a:rPr lang="en-US" sz="22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Introduction of basic AI-based anomaly detection using simple Python scripts to identify unusual traffic patterns from access logs </a:t>
            </a:r>
          </a:p>
          <a:p>
            <a:pPr algn="l">
              <a:lnSpc>
                <a:spcPts val="4245"/>
              </a:lnSpc>
            </a:pPr>
            <a:r>
              <a:rPr lang="en-US" sz="2294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● Automation of backup system for website files and configuration directories (/var/www, /etc/apache2) using scheduled cron jobs </a:t>
            </a:r>
          </a:p>
        </p:txBody>
      </p:sp>
    </p:spTree>
  </p:cSld>
  <p:clrMapOvr>
    <a:masterClrMapping/>
  </p:clrMapOvr>
  <p:transition spd="fast">
    <p:wipe dir="l"/>
  </p:transition>
</p:sld>
</file>

<file path=ppt/slides/slide2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4F2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8471" y="0"/>
            <a:ext cx="2119542" cy="10287000"/>
            <a:chOff x="0" y="0"/>
            <a:chExt cx="55823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6BD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0"/>
            <a:ext cx="2119542" cy="10287000"/>
            <a:chOff x="0" y="0"/>
            <a:chExt cx="5582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993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1071" y="0"/>
            <a:ext cx="2119542" cy="10287000"/>
            <a:chOff x="0" y="0"/>
            <a:chExt cx="55823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46F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28730" y="3927232"/>
            <a:ext cx="12112646" cy="186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58"/>
              </a:lnSpc>
            </a:pPr>
            <a:r>
              <a:rPr lang="en-US" sz="108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QUESTION?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25</a:t>
            </a:r>
          </a:p>
        </p:txBody>
      </p:sp>
    </p:spTree>
  </p:cSld>
  <p:clrMapOvr>
    <a:masterClrMapping/>
  </p:clrMapOvr>
  <p:transition spd="fast">
    <p:wipe dir="l"/>
  </p:transition>
</p:sld>
</file>

<file path=ppt/slides/slide2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7F5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2088471" y="0"/>
            <a:ext cx="2119542" cy="10287000"/>
            <a:chOff x="0" y="0"/>
            <a:chExt cx="558233" cy="27093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66BDEE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0"/>
            <a:ext cx="2119542" cy="10287000"/>
            <a:chOff x="0" y="0"/>
            <a:chExt cx="558233" cy="27093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993E9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-31071" y="0"/>
            <a:ext cx="2119542" cy="10287000"/>
            <a:chOff x="0" y="0"/>
            <a:chExt cx="558233" cy="27093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582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558233">
                  <a:moveTo>
                    <a:pt x="0" y="0"/>
                  </a:moveTo>
                  <a:lnTo>
                    <a:pt x="558233" y="0"/>
                  </a:lnTo>
                  <a:lnTo>
                    <a:pt x="5582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246FCC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558233" cy="2756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</a:pPr>
            </a:p>
          </p:txBody>
        </p:sp>
      </p:grpSp>
      <p:sp>
        <p:nvSpPr>
          <p:cNvPr name="Freeform 11" id="11"/>
          <p:cNvSpPr/>
          <p:nvPr/>
        </p:nvSpPr>
        <p:spPr>
          <a:xfrm flipH="false" flipV="false" rot="0">
            <a:off x="12412831" y="8026211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3"/>
                </a:lnTo>
                <a:lnTo>
                  <a:pt x="0" y="247778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1413653" y="-573693"/>
            <a:ext cx="7315200" cy="2477783"/>
          </a:xfrm>
          <a:custGeom>
            <a:avLst/>
            <a:gdLst/>
            <a:ahLst/>
            <a:cxnLst/>
            <a:rect r="r" b="b" t="t" l="l"/>
            <a:pathLst>
              <a:path h="2477783" w="7315200">
                <a:moveTo>
                  <a:pt x="0" y="0"/>
                </a:moveTo>
                <a:lnTo>
                  <a:pt x="7315200" y="0"/>
                </a:lnTo>
                <a:lnTo>
                  <a:pt x="7315200" y="2477784"/>
                </a:lnTo>
                <a:lnTo>
                  <a:pt x="0" y="247778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4428730" y="3927232"/>
            <a:ext cx="12112646" cy="18662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5258"/>
              </a:lnSpc>
            </a:pPr>
            <a:r>
              <a:rPr lang="en-US" sz="10899">
                <a:solidFill>
                  <a:srgbClr val="000000"/>
                </a:solidFill>
                <a:latin typeface="Alatsi"/>
                <a:ea typeface="Alatsi"/>
                <a:cs typeface="Alatsi"/>
                <a:sym typeface="Alatsi"/>
              </a:rPr>
              <a:t>THANK YOU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59300" y="9210675"/>
            <a:ext cx="152400" cy="200025"/>
          </a:xfrm>
          <a:prstGeom prst="rect">
            <a:avLst/>
          </a:prstGeom>
        </p:spPr>
        <p:txBody>
          <a:bodyPr anchor="t" rtlCol="false" tIns="0" lIns="0" bIns="0" rIns="0" wrap="none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Canva Sans"/>
                <a:ea typeface="Canva Sans"/>
                <a:cs typeface="Canva Sans"/>
                <a:sym typeface="Canva Sans"/>
              </a:rPr>
              <a:t>26</a:t>
            </a:r>
          </a:p>
        </p:txBody>
      </p:sp>
    </p:spTree>
  </p:cSld>
  <p:clrMapOvr>
    <a:masterClrMapping/>
  </p:clrMapOvr>
  <p:transition spd="fast">
    <p:push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DAHHfnR0IoM</dc:identifier>
  <dcterms:modified xsi:type="dcterms:W3CDTF">2011-08-01T06:04:30Z</dcterms:modified>
  <cp:revision>1</cp:revision>
  <dc:title>65-A1_GROUP 02_Secure Linux-Based Apache Web Server Deployment with Security Hardening and Monitoring</dc:title>
</cp:coreProperties>
</file>